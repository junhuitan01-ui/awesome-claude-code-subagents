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conclusion. We recommend extending the pilot, with conditions, rather than making it permanent now or ending it. All figures are fictional test data. The next slides give the evidence, the limits and the decision test.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Absence shows the largest change, but read it with care. A four-day week has fewer working days, and the file does not define sick days [1]. So the fall may be partly mechanical. Total output rose, but average headcount rose from about 49 to about 51, so output per person was flat to slightly lower [1]. Read this as "output was maintained", not "output improved". On-time delivery is an unweighted average of monthly figures. Totals, averages and percentages are our calculations from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run from one to five, and five is best. Four of five measures improved, including "would recommend" (3.4 to 4.0) [2]. The team breakdown exists for June 2026 only, and customer service had eight respondents [2]. We cannot tell whether customer service was already lower before the pilot, or whether it improved.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June complaints related to slow Friday responses during a recall notice issued on a Thursday [3]. The manager judged it mostly a one-off but linked it to thin Friday cover [3]. That cause is one person's judgement, and no queue-time data exists. Two internal sources agree on the weakness [2][3], so we treat it as real but cannot size it. Customer service's lower June satisfaction score may be linked, but the data cannot show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Sick-day counts may not be comparable. A four-day week has fewer working days, and the file does not define the measure [1]. Excluding December, units rose 1.2% and on-time delivery gained 1.09 points [1]. Sick days still fell, from 67.2 to 43.7 a month [1]. The baseline check does not remove the working-days question. The output result is weaker. There is also no cost data and no data after June [1]. Confidence overall is 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judgement, not a result in the data. Confidence is medium. The decision test for permanency also includes: no month at 18 complaints [1], sick days well below the earlier average of 70 a month [1], and customer service job satisfaction rising towards 4.0 [2]. The board sets the exact thresholds and may choose a different extension length.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sources are internal and unaudited. Reliability is medium for the operations data and survey summary, and low to medium for the manager's log. Accessed 14 October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22960" y="1371600"/>
            <a:ext cx="10515600" cy="1737360"/>
          </a:xfrm>
        </p:spPr>
        <p:txBody>
          <a:bodyPr/>
          <a:lstStyle/>
          <a:p>
            <a:r>
              <a:rPr sz="4000"/>
              <a:t>Four-day week pilot: extend with conditions</a:t>
            </a:r>
          </a:p>
        </p:txBody>
      </p:sp>
      <p:sp>
        <p:nvSpPr>
          <p:cNvPr id="3" name="Subtitle 2"/>
          <p:cNvSpPr>
            <a:spLocks noGrp="1"/>
          </p:cNvSpPr>
          <p:nvPr>
            <p:ph type="subTitle" idx="1"/>
          </p:nvPr>
        </p:nvSpPr>
        <p:spPr>
          <a:xfrm>
            <a:off x="822960" y="3383280"/>
            <a:ext cx="10515600" cy="2377440"/>
          </a:xfrm>
        </p:spPr>
        <p:txBody>
          <a:bodyPr wrap="square"/>
          <a:lstStyle/>
          <a:p>
            <a:r>
              <a:rPr sz="2400"/>
              <a:t>Report to Acme's board of directors</a:t>
            </a:r>
          </a:p>
          <a:p>
            <a:r>
              <a:rPr sz="2400"/>
              <a:t>Pilot: January to June 2026</a:t>
            </a:r>
          </a:p>
          <a:p>
            <a:r>
              <a:rPr sz="2400"/>
              <a:t>Compared with July to December 2025</a:t>
            </a:r>
          </a:p>
          <a:p>
            <a:r>
              <a:rPr sz="2400"/>
              <a:t>All data is fictional test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65760"/>
            <a:ext cx="10881360" cy="1280160"/>
          </a:xfrm>
        </p:spPr>
        <p:txBody>
          <a:bodyPr wrap="square" anchor="ctr"/>
          <a:lstStyle/>
          <a:p>
            <a:r>
              <a:rPr sz="3000" b="1"/>
              <a:t>Sick days fell 37.6% and output was maintained</a:t>
            </a:r>
          </a:p>
        </p:txBody>
      </p:sp>
      <p:sp>
        <p:nvSpPr>
          <p:cNvPr id="3" name="Content Placeholder 2"/>
          <p:cNvSpPr>
            <a:spLocks noGrp="1"/>
          </p:cNvSpPr>
          <p:nvPr>
            <p:ph idx="1"/>
          </p:nvPr>
        </p:nvSpPr>
        <p:spPr>
          <a:xfrm>
            <a:off x="822960" y="1920240"/>
            <a:ext cx="10515600" cy="4389120"/>
          </a:xfrm>
        </p:spPr>
        <p:txBody>
          <a:bodyPr wrap="square"/>
          <a:lstStyle/>
          <a:p>
            <a:pPr>
              <a:spcAft>
                <a:spcPts val="1000"/>
              </a:spcAft>
            </a:pPr>
            <a:r>
              <a:rPr sz="2200"/>
              <a:t>Sick days: 420 down to 262 [1]</a:t>
            </a:r>
          </a:p>
          <a:p>
            <a:pPr>
              <a:spcAft>
                <a:spcPts val="1000"/>
              </a:spcAft>
            </a:pPr>
            <a:r>
              <a:rPr sz="2200"/>
              <a:t>Complaints: 90 down to 76 [1]</a:t>
            </a:r>
          </a:p>
          <a:p>
            <a:pPr>
              <a:spcAft>
                <a:spcPts val="1000"/>
              </a:spcAft>
            </a:pPr>
            <a:r>
              <a:rPr sz="2200"/>
              <a:t>On-time delivery: 93.12% up to 94.45% [1]</a:t>
            </a:r>
          </a:p>
          <a:p>
            <a:pPr>
              <a:spcAft>
                <a:spcPts val="1000"/>
              </a:spcAft>
            </a:pPr>
            <a:r>
              <a:rPr sz="2200"/>
              <a:t>Total units up 2.6%; per head down 0.8%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65760"/>
            <a:ext cx="10881360" cy="1280160"/>
          </a:xfrm>
        </p:spPr>
        <p:txBody>
          <a:bodyPr wrap="square" anchor="ctr"/>
          <a:lstStyle/>
          <a:p>
            <a:r>
              <a:rPr sz="3000" b="1"/>
              <a:t>Wellbeing improved overall; customer service scored lowest</a:t>
            </a:r>
          </a:p>
        </p:txBody>
      </p:sp>
      <p:sp>
        <p:nvSpPr>
          <p:cNvPr id="3" name="Content Placeholder 2"/>
          <p:cNvSpPr>
            <a:spLocks noGrp="1"/>
          </p:cNvSpPr>
          <p:nvPr>
            <p:ph idx="1"/>
          </p:nvPr>
        </p:nvSpPr>
        <p:spPr>
          <a:xfrm>
            <a:off x="822960" y="1920240"/>
            <a:ext cx="10515600" cy="4389120"/>
          </a:xfrm>
        </p:spPr>
        <p:txBody>
          <a:bodyPr wrap="square"/>
          <a:lstStyle/>
          <a:p>
            <a:pPr>
              <a:spcAft>
                <a:spcPts val="1000"/>
              </a:spcAft>
            </a:pPr>
            <a:r>
              <a:rPr sz="2200"/>
              <a:t>Work-life balance: 2.9 up to 4.1 [2]</a:t>
            </a:r>
          </a:p>
          <a:p>
            <a:pPr>
              <a:spcAft>
                <a:spcPts val="1000"/>
              </a:spcAft>
            </a:pPr>
            <a:r>
              <a:rPr sz="2200"/>
              <a:t>Burnout score: 2.7 up to 3.6 [2]</a:t>
            </a:r>
          </a:p>
          <a:p>
            <a:pPr>
              <a:spcAft>
                <a:spcPts val="1000"/>
              </a:spcAft>
            </a:pPr>
            <a:r>
              <a:rPr sz="2200"/>
              <a:t>Job satisfaction: 3.2 up to 3.9 [2]</a:t>
            </a:r>
          </a:p>
          <a:p>
            <a:pPr>
              <a:spcAft>
                <a:spcPts val="1000"/>
              </a:spcAft>
            </a:pPr>
            <a:r>
              <a:rPr sz="2200"/>
              <a:t>Customer service scored lowest in June: 3.1, against 4.1 and 4.0 [2]</a:t>
            </a:r>
          </a:p>
          <a:p>
            <a:pPr>
              <a:spcAft>
                <a:spcPts val="1000"/>
              </a:spcAft>
            </a:pPr>
            <a:r>
              <a:rPr sz="2200"/>
              <a:t>Workload manageable: 3.1 to 3.0, no gain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65760"/>
            <a:ext cx="10881360" cy="1280160"/>
          </a:xfrm>
        </p:spPr>
        <p:txBody>
          <a:bodyPr wrap="square" anchor="ctr"/>
          <a:lstStyle/>
          <a:p>
            <a:r>
              <a:rPr sz="3000" b="1"/>
              <a:t>Friday customer-service cover is the recurring problem</a:t>
            </a:r>
          </a:p>
        </p:txBody>
      </p:sp>
      <p:sp>
        <p:nvSpPr>
          <p:cNvPr id="3" name="Content Placeholder 2"/>
          <p:cNvSpPr>
            <a:spLocks noGrp="1"/>
          </p:cNvSpPr>
          <p:nvPr>
            <p:ph idx="1"/>
          </p:nvPr>
        </p:nvSpPr>
        <p:spPr>
          <a:xfrm>
            <a:off x="822960" y="1920240"/>
            <a:ext cx="10515600" cy="4389120"/>
          </a:xfrm>
        </p:spPr>
        <p:txBody>
          <a:bodyPr wrap="square"/>
          <a:lstStyle/>
          <a:p>
            <a:pPr>
              <a:spcAft>
                <a:spcPts val="1000"/>
              </a:spcAft>
            </a:pPr>
            <a:r>
              <a:rPr sz="2200"/>
              <a:t>One person covers Fridays; no extra hire made [3]</a:t>
            </a:r>
          </a:p>
          <a:p>
            <a:pPr>
              <a:spcAft>
                <a:spcPts val="1000"/>
              </a:spcAft>
            </a:pPr>
            <a:r>
              <a:rPr sz="2200"/>
              <a:t>Phone queue times rose in April [3]</a:t>
            </a:r>
          </a:p>
          <a:p>
            <a:pPr>
              <a:spcAft>
                <a:spcPts val="1000"/>
              </a:spcAft>
            </a:pPr>
            <a:r>
              <a:rPr sz="2200"/>
              <a:t>June complaints reached 18, up from nine [1]</a:t>
            </a:r>
          </a:p>
          <a:p>
            <a:pPr>
              <a:spcAft>
                <a:spcPts val="1000"/>
              </a:spcAft>
            </a:pPr>
            <a:r>
              <a:rPr sz="2200"/>
              <a:t>Five of six Friday-cover comments came from customer service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65760"/>
            <a:ext cx="10881360" cy="1280160"/>
          </a:xfrm>
        </p:spPr>
        <p:txBody>
          <a:bodyPr wrap="square" anchor="ctr"/>
          <a:lstStyle/>
          <a:p>
            <a:r>
              <a:rPr sz="3000" b="1"/>
              <a:t>Six months without a control group is thin evidence</a:t>
            </a:r>
          </a:p>
        </p:txBody>
      </p:sp>
      <p:sp>
        <p:nvSpPr>
          <p:cNvPr id="3" name="Content Placeholder 2"/>
          <p:cNvSpPr>
            <a:spLocks noGrp="1"/>
          </p:cNvSpPr>
          <p:nvPr>
            <p:ph idx="1"/>
          </p:nvPr>
        </p:nvSpPr>
        <p:spPr>
          <a:xfrm>
            <a:off x="822960" y="1920240"/>
            <a:ext cx="10515600" cy="4389120"/>
          </a:xfrm>
        </p:spPr>
        <p:txBody>
          <a:bodyPr wrap="square"/>
          <a:lstStyle/>
          <a:p>
            <a:pPr>
              <a:spcAft>
                <a:spcPts val="1000"/>
              </a:spcAft>
            </a:pPr>
            <a:r>
              <a:rPr sz="2200"/>
              <a:t>No control group; other changes happened too [1][3]</a:t>
            </a:r>
          </a:p>
          <a:p>
            <a:pPr>
              <a:spcAft>
                <a:spcPts val="1000"/>
              </a:spcAft>
            </a:pPr>
            <a:r>
              <a:rPr sz="2200"/>
              <a:t>No earlier-year or post-June data [1]</a:t>
            </a:r>
          </a:p>
          <a:p>
            <a:pPr>
              <a:spcAft>
                <a:spcPts val="1000"/>
              </a:spcAft>
            </a:pPr>
            <a:r>
              <a:rPr sz="2200"/>
              <a:t>December 2025 was weak, which flatters the comparison [1]</a:t>
            </a:r>
          </a:p>
          <a:p>
            <a:pPr>
              <a:spcAft>
                <a:spcPts val="1000"/>
              </a:spcAft>
            </a:pPr>
            <a:r>
              <a:rPr sz="2200"/>
              <a:t>Survey: summary only, response rates 82% and 73% [2]</a:t>
            </a:r>
          </a:p>
          <a:p>
            <a:pPr>
              <a:spcAft>
                <a:spcPts val="1000"/>
              </a:spcAft>
            </a:pPr>
            <a:r>
              <a:rPr sz="2200"/>
              <a:t>Sick-day definition unclear; working days may differ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65760"/>
            <a:ext cx="10881360" cy="1280160"/>
          </a:xfrm>
        </p:spPr>
        <p:txBody>
          <a:bodyPr wrap="square" anchor="ctr"/>
          <a:lstStyle/>
          <a:p>
            <a:r>
              <a:rPr sz="3000" b="1"/>
              <a:t>Extend the pilot for at least six months, with conditions</a:t>
            </a:r>
          </a:p>
        </p:txBody>
      </p:sp>
      <p:sp>
        <p:nvSpPr>
          <p:cNvPr id="3" name="Content Placeholder 2"/>
          <p:cNvSpPr>
            <a:spLocks noGrp="1"/>
          </p:cNvSpPr>
          <p:nvPr>
            <p:ph idx="1"/>
          </p:nvPr>
        </p:nvSpPr>
        <p:spPr>
          <a:xfrm>
            <a:off x="822960" y="1920240"/>
            <a:ext cx="10515600" cy="4389120"/>
          </a:xfrm>
        </p:spPr>
        <p:txBody>
          <a:bodyPr wrap="square"/>
          <a:lstStyle/>
          <a:p>
            <a:pPr>
              <a:spcAft>
                <a:spcPts val="1000"/>
              </a:spcAft>
            </a:pPr>
            <a:r>
              <a:rPr sz="2200"/>
              <a:t>Fix Friday customer-service cover first</a:t>
            </a:r>
          </a:p>
          <a:p>
            <a:pPr>
              <a:spcAft>
                <a:spcPts val="1000"/>
              </a:spcAft>
            </a:pPr>
            <a:r>
              <a:rPr sz="2200"/>
              <a:t>Plan for urgent Friday notices</a:t>
            </a:r>
          </a:p>
          <a:p>
            <a:pPr>
              <a:spcAft>
                <a:spcPts val="1000"/>
              </a:spcAft>
            </a:pPr>
            <a:r>
              <a:rPr sz="2200"/>
              <a:t>Collect weekday complaints, response times and team surveys</a:t>
            </a:r>
          </a:p>
          <a:p>
            <a:pPr>
              <a:spcAft>
                <a:spcPts val="1000"/>
              </a:spcAft>
            </a:pPr>
            <a:r>
              <a:rPr sz="2200"/>
              <a:t>Fall-back: redesign or end, never permanent by default</a:t>
            </a:r>
          </a:p>
          <a:p>
            <a:pPr>
              <a:spcAft>
                <a:spcPts val="1000"/>
              </a:spcAft>
            </a:pPr>
            <a:r>
              <a:rPr sz="2200"/>
              <a:t>Test: complaints at or below pilot average (12.67/month)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65760"/>
            <a:ext cx="10881360" cy="1280160"/>
          </a:xfrm>
        </p:spPr>
        <p:txBody>
          <a:bodyPr wrap="square" anchor="ctr"/>
          <a:lstStyle/>
          <a:p>
            <a:r>
              <a:rPr sz="3000" b="1"/>
              <a:t>Sources</a:t>
            </a:r>
          </a:p>
        </p:txBody>
      </p:sp>
      <p:sp>
        <p:nvSpPr>
          <p:cNvPr id="3" name="Content Placeholder 2"/>
          <p:cNvSpPr>
            <a:spLocks noGrp="1"/>
          </p:cNvSpPr>
          <p:nvPr>
            <p:ph idx="1"/>
          </p:nvPr>
        </p:nvSpPr>
        <p:spPr>
          <a:xfrm>
            <a:off x="822960" y="1920240"/>
            <a:ext cx="10515600" cy="4389120"/>
          </a:xfrm>
        </p:spPr>
        <p:txBody>
          <a:bodyPr wrap="square"/>
          <a:lstStyle/>
          <a:p>
            <a:pPr>
              <a:spcAft>
                <a:spcPts val="1000"/>
              </a:spcAft>
            </a:pPr>
            <a:r>
              <a:rPr sz="2200"/>
              <a:t>[1] Acme monthly operations data (pilot-metrics.csv), 2026</a:t>
            </a:r>
          </a:p>
          <a:p>
            <a:pPr>
              <a:spcAft>
                <a:spcPts val="1000"/>
              </a:spcAft>
            </a:pPr>
            <a:r>
              <a:rPr sz="2200"/>
              <a:t>[2] Acme staff wellbeing survey summary, 2026</a:t>
            </a:r>
          </a:p>
          <a:p>
            <a:pPr>
              <a:spcAft>
                <a:spcPts val="1000"/>
              </a:spcAft>
            </a:pPr>
            <a:r>
              <a:rPr sz="2200"/>
              <a:t>[3] Acme pilot issues log (manager-notes.md), 2026</a:t>
            </a:r>
          </a:p>
          <a:p>
            <a:pPr>
              <a:spcAft>
                <a:spcPts val="1000"/>
              </a:spcAft>
            </a:pPr>
            <a:r>
              <a:rPr sz="2200"/>
              <a:t>All three are internal, fictional files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